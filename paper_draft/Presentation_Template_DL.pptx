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p:scale>
          <a:sx n="101" d="100"/>
          <a:sy n="101" d="100"/>
        </p:scale>
        <p:origin x="104"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553F57-2484-7C72-9DCD-86E9D5530B6A}"/>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DEEA90DE-8A8C-3109-619B-92E448AF31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58A4407-03A3-4793-2840-123088B4CD93}"/>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5" name="Fußzeilenplatzhalter 4">
            <a:extLst>
              <a:ext uri="{FF2B5EF4-FFF2-40B4-BE49-F238E27FC236}">
                <a16:creationId xmlns:a16="http://schemas.microsoft.com/office/drawing/2014/main" id="{5C5373F7-BE74-F1F0-2960-E8698B5ECC1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7128502-2BDB-4E0B-1969-DB8BEBF523EA}"/>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1178526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9CC743-8DF8-BFF5-23C1-78564736D84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6669B11-D58E-6A00-66A4-5C80E4385908}"/>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827DC67-4F66-8BE0-FD45-C0C72BC56A5A}"/>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5" name="Fußzeilenplatzhalter 4">
            <a:extLst>
              <a:ext uri="{FF2B5EF4-FFF2-40B4-BE49-F238E27FC236}">
                <a16:creationId xmlns:a16="http://schemas.microsoft.com/office/drawing/2014/main" id="{8EBAEF6D-F206-A5AA-EEA5-9AE3F5AC168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BFED8EC-E769-7BEB-83E6-411F00D5ED70}"/>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1609818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222515-7EF4-D48A-37BF-86D166F559D9}"/>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EE74CB19-6F7E-93DD-B7EA-9E52B4F6ED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3D04E233-5E2D-7471-197B-F2A4EC438081}"/>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5" name="Fußzeilenplatzhalter 4">
            <a:extLst>
              <a:ext uri="{FF2B5EF4-FFF2-40B4-BE49-F238E27FC236}">
                <a16:creationId xmlns:a16="http://schemas.microsoft.com/office/drawing/2014/main" id="{956C11C3-B59D-9B0F-C2B9-28E8C9652CE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F94E35C-9DBC-3A43-0505-EDE3982C846E}"/>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3136564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AAEEF0-CA2A-9FD9-50FC-C10ECABDBF7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7AE82B7B-E3DC-7E8B-C725-33ED74A2175B}"/>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186D352D-12A9-D124-0772-3C30B1083A8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5627A797-1501-5002-D3A1-38F84514BAE2}"/>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6" name="Fußzeilenplatzhalter 5">
            <a:extLst>
              <a:ext uri="{FF2B5EF4-FFF2-40B4-BE49-F238E27FC236}">
                <a16:creationId xmlns:a16="http://schemas.microsoft.com/office/drawing/2014/main" id="{52F2D71A-CF1E-3F54-D210-4057F758B8D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EDC87A9-C12A-EED5-E23B-BB3DF5BB99A1}"/>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1775815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71DE6B-9A1D-EDD1-9471-6F7CE98E6AA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564AD1E5-06C5-E1C0-7D62-62A96A7A4C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220D861-9B1C-011F-B28D-A879477C4FAF}"/>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9B17342C-318B-4061-FB3C-2FDDABED18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111769D2-CAF5-4BDB-C21D-819BEB5F5909}"/>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4A47EAAC-A8E8-1F3F-F3F9-63976190E8B9}"/>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8" name="Fußzeilenplatzhalter 7">
            <a:extLst>
              <a:ext uri="{FF2B5EF4-FFF2-40B4-BE49-F238E27FC236}">
                <a16:creationId xmlns:a16="http://schemas.microsoft.com/office/drawing/2014/main" id="{621F6F4A-974C-DC0D-5495-8161FDAF5061}"/>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9BC9D9A3-D4FA-5A5D-6352-D89BA5933E15}"/>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1849093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F0F66E-5A40-EF96-AC86-37ADCE4F774B}"/>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1AD50E45-1C5E-BA64-6CFB-9AB283B13BD1}"/>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4" name="Fußzeilenplatzhalter 3">
            <a:extLst>
              <a:ext uri="{FF2B5EF4-FFF2-40B4-BE49-F238E27FC236}">
                <a16:creationId xmlns:a16="http://schemas.microsoft.com/office/drawing/2014/main" id="{B000D76C-416A-0DA4-7118-0235B0E7DD88}"/>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7C1FB3DF-B6BB-4E35-F206-5F6D1ED44549}"/>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4086592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0CE2A20-386B-B808-0EF1-CA19F07BC138}"/>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3" name="Fußzeilenplatzhalter 2">
            <a:extLst>
              <a:ext uri="{FF2B5EF4-FFF2-40B4-BE49-F238E27FC236}">
                <a16:creationId xmlns:a16="http://schemas.microsoft.com/office/drawing/2014/main" id="{6C46D705-6AC0-5D4B-888F-904CDE2B0862}"/>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8F6C7C52-56D8-D662-06EF-05AB65EEC52A}"/>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3180037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90B8B5-012C-E7F6-0A0F-0D34CAC9629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250F2786-97F2-9600-E86C-607A900E44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F188CE2E-FEDC-6127-0F6F-93A4E65815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5F588B4-3125-A11C-2212-113E222FAABF}"/>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6" name="Fußzeilenplatzhalter 5">
            <a:extLst>
              <a:ext uri="{FF2B5EF4-FFF2-40B4-BE49-F238E27FC236}">
                <a16:creationId xmlns:a16="http://schemas.microsoft.com/office/drawing/2014/main" id="{DFF8A42E-6D07-BB92-EC8D-5017C0F292A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FDE6DEA-958C-682F-43F1-D9F6B5EC5B97}"/>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4106088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7C1D67-AD2A-602E-46D0-58CF7B3BE08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4533A5D0-3A5A-C286-2F19-5BD836216C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58EDBB50-19A1-2B9D-4C66-D3C60A5E9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02058E1-B99C-83D2-D0A5-F9766A5E2BCF}"/>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6" name="Fußzeilenplatzhalter 5">
            <a:extLst>
              <a:ext uri="{FF2B5EF4-FFF2-40B4-BE49-F238E27FC236}">
                <a16:creationId xmlns:a16="http://schemas.microsoft.com/office/drawing/2014/main" id="{370E26C9-5EB1-9E02-6DAA-A22F81422F5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6DD9008B-2700-C6A1-1F83-38735F78BFCA}"/>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2519535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F8A329-EF60-08EE-C99F-C034809C9872}"/>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3BD39B8B-7068-BBDB-79BD-6463BD877E58}"/>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D2C97FE-3841-61CD-12F5-BE050F400D89}"/>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5" name="Fußzeilenplatzhalter 4">
            <a:extLst>
              <a:ext uri="{FF2B5EF4-FFF2-40B4-BE49-F238E27FC236}">
                <a16:creationId xmlns:a16="http://schemas.microsoft.com/office/drawing/2014/main" id="{48E2BF00-17C6-0CF9-DD78-60E1CDA3DE8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26AF62F-726E-9E0C-7EBA-6F57CBA24B00}"/>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1202862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18130B1-4EF0-CDC2-DC59-98A49B34D41D}"/>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A28C2D48-68C6-F682-EBAE-8ECEAA99FAA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51D1676-AE28-AC85-6CEC-7A9796AC0C23}"/>
              </a:ext>
            </a:extLst>
          </p:cNvPr>
          <p:cNvSpPr>
            <a:spLocks noGrp="1"/>
          </p:cNvSpPr>
          <p:nvPr>
            <p:ph type="dt" sz="half" idx="10"/>
          </p:nvPr>
        </p:nvSpPr>
        <p:spPr/>
        <p:txBody>
          <a:bodyPr/>
          <a:lstStyle/>
          <a:p>
            <a:fld id="{57858AD4-DDEC-478E-AFFE-CD7BC81853F2}" type="datetimeFigureOut">
              <a:rPr lang="de-DE" smtClean="0"/>
              <a:t>29.04.2026</a:t>
            </a:fld>
            <a:endParaRPr lang="de-DE"/>
          </a:p>
        </p:txBody>
      </p:sp>
      <p:sp>
        <p:nvSpPr>
          <p:cNvPr id="5" name="Fußzeilenplatzhalter 4">
            <a:extLst>
              <a:ext uri="{FF2B5EF4-FFF2-40B4-BE49-F238E27FC236}">
                <a16:creationId xmlns:a16="http://schemas.microsoft.com/office/drawing/2014/main" id="{1B889B53-A99F-5DCA-C7C0-5F4F597551C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A0B8258-A9F5-4E32-4190-35507EC565CE}"/>
              </a:ext>
            </a:extLst>
          </p:cNvPr>
          <p:cNvSpPr>
            <a:spLocks noGrp="1"/>
          </p:cNvSpPr>
          <p:nvPr>
            <p:ph type="sldNum" sz="quarter" idx="12"/>
          </p:nvPr>
        </p:nvSpPr>
        <p:spPr/>
        <p:txBody>
          <a:bodyPr/>
          <a:lstStyle/>
          <a:p>
            <a:fld id="{DBAA0FD1-CA21-4D33-AC30-3BF1ED705298}" type="slidenum">
              <a:rPr lang="de-DE" smtClean="0"/>
              <a:t>‹Nr.›</a:t>
            </a:fld>
            <a:endParaRPr lang="de-DE"/>
          </a:p>
        </p:txBody>
      </p:sp>
    </p:spTree>
    <p:extLst>
      <p:ext uri="{BB962C8B-B14F-4D97-AF65-F5344CB8AC3E}">
        <p14:creationId xmlns:p14="http://schemas.microsoft.com/office/powerpoint/2010/main" val="3280878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CE5154A-0ED4-CA4D-695A-FF7AF1C9BF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DB701A7-BAD7-8A80-5417-9AD3B881BF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E596B22-A1AE-B930-4E26-2B976F8965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858AD4-DDEC-478E-AFFE-CD7BC81853F2}" type="datetimeFigureOut">
              <a:rPr lang="de-DE" smtClean="0"/>
              <a:t>29.04.2026</a:t>
            </a:fld>
            <a:endParaRPr lang="de-DE"/>
          </a:p>
        </p:txBody>
      </p:sp>
      <p:sp>
        <p:nvSpPr>
          <p:cNvPr id="5" name="Fußzeilenplatzhalter 4">
            <a:extLst>
              <a:ext uri="{FF2B5EF4-FFF2-40B4-BE49-F238E27FC236}">
                <a16:creationId xmlns:a16="http://schemas.microsoft.com/office/drawing/2014/main" id="{685A37E4-C57D-940D-93DA-1379162E85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F1B8B78E-20CC-C1D1-EE61-AA89A9254C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AA0FD1-CA21-4D33-AC30-3BF1ED705298}" type="slidenum">
              <a:rPr lang="de-DE" smtClean="0"/>
              <a:t>‹Nr.›</a:t>
            </a:fld>
            <a:endParaRPr lang="de-DE"/>
          </a:p>
        </p:txBody>
      </p:sp>
    </p:spTree>
    <p:extLst>
      <p:ext uri="{BB962C8B-B14F-4D97-AF65-F5344CB8AC3E}">
        <p14:creationId xmlns:p14="http://schemas.microsoft.com/office/powerpoint/2010/main" val="1197433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362853-5C46-C19A-E845-ABFAAA38B47C}"/>
              </a:ext>
            </a:extLst>
          </p:cNvPr>
          <p:cNvSpPr>
            <a:spLocks noGrp="1"/>
          </p:cNvSpPr>
          <p:nvPr>
            <p:ph type="ctrTitle"/>
          </p:nvPr>
        </p:nvSpPr>
        <p:spPr>
          <a:xfrm>
            <a:off x="1524000" y="1821970"/>
            <a:ext cx="9144000" cy="2387600"/>
          </a:xfrm>
        </p:spPr>
        <p:txBody>
          <a:bodyPr>
            <a:normAutofit fontScale="90000"/>
          </a:bodyPr>
          <a:lstStyle/>
          <a:p>
            <a:r>
              <a:rPr lang="en-US" dirty="0"/>
              <a:t>Multimodal Skin Lesion Classification: Investigating the Influence of Metadata on Model Decision-Making</a:t>
            </a:r>
            <a:endParaRPr lang="en-US" noProof="0" dirty="0"/>
          </a:p>
        </p:txBody>
      </p:sp>
      <p:sp>
        <p:nvSpPr>
          <p:cNvPr id="3" name="Untertitel 2">
            <a:extLst>
              <a:ext uri="{FF2B5EF4-FFF2-40B4-BE49-F238E27FC236}">
                <a16:creationId xmlns:a16="http://schemas.microsoft.com/office/drawing/2014/main" id="{9C0DF490-EBD3-7536-2E87-24B369286FC1}"/>
              </a:ext>
            </a:extLst>
          </p:cNvPr>
          <p:cNvSpPr>
            <a:spLocks noGrp="1"/>
          </p:cNvSpPr>
          <p:nvPr>
            <p:ph type="subTitle" idx="1"/>
          </p:nvPr>
        </p:nvSpPr>
        <p:spPr>
          <a:xfrm>
            <a:off x="869004" y="4709441"/>
            <a:ext cx="2905328" cy="388998"/>
          </a:xfrm>
        </p:spPr>
        <p:txBody>
          <a:bodyPr>
            <a:normAutofit fontScale="92500" lnSpcReduction="10000"/>
          </a:bodyPr>
          <a:lstStyle/>
          <a:p>
            <a:r>
              <a:rPr lang="en-US" noProof="0" dirty="0"/>
              <a:t>Eva Bauer</a:t>
            </a:r>
          </a:p>
        </p:txBody>
      </p:sp>
      <p:sp>
        <p:nvSpPr>
          <p:cNvPr id="7" name="Untertitel 2">
            <a:extLst>
              <a:ext uri="{FF2B5EF4-FFF2-40B4-BE49-F238E27FC236}">
                <a16:creationId xmlns:a16="http://schemas.microsoft.com/office/drawing/2014/main" id="{22836527-E389-4449-465E-1C94CC3FE6DA}"/>
              </a:ext>
            </a:extLst>
          </p:cNvPr>
          <p:cNvSpPr txBox="1">
            <a:spLocks/>
          </p:cNvSpPr>
          <p:nvPr/>
        </p:nvSpPr>
        <p:spPr>
          <a:xfrm>
            <a:off x="4643336" y="4709441"/>
            <a:ext cx="2905328" cy="5384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noProof="0" dirty="0"/>
              <a:t>Alexandra </a:t>
            </a:r>
            <a:r>
              <a:rPr lang="en-US" noProof="0" dirty="0" err="1"/>
              <a:t>Benova</a:t>
            </a:r>
            <a:endParaRPr lang="en-US" noProof="0" dirty="0"/>
          </a:p>
        </p:txBody>
      </p:sp>
      <p:sp>
        <p:nvSpPr>
          <p:cNvPr id="8" name="Untertitel 2">
            <a:extLst>
              <a:ext uri="{FF2B5EF4-FFF2-40B4-BE49-F238E27FC236}">
                <a16:creationId xmlns:a16="http://schemas.microsoft.com/office/drawing/2014/main" id="{CF07445D-D924-F7DE-1FCD-1E5E73A09858}"/>
              </a:ext>
            </a:extLst>
          </p:cNvPr>
          <p:cNvSpPr txBox="1">
            <a:spLocks/>
          </p:cNvSpPr>
          <p:nvPr/>
        </p:nvSpPr>
        <p:spPr>
          <a:xfrm>
            <a:off x="8417668" y="4709441"/>
            <a:ext cx="2905328" cy="46327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noProof="0" dirty="0"/>
              <a:t>Nina Fröhlich</a:t>
            </a:r>
          </a:p>
        </p:txBody>
      </p:sp>
      <p:pic>
        <p:nvPicPr>
          <p:cNvPr id="4" name="Picture 18" descr="A black background with red text&#10;&#10;Description automatically generated">
            <a:extLst>
              <a:ext uri="{FF2B5EF4-FFF2-40B4-BE49-F238E27FC236}">
                <a16:creationId xmlns:a16="http://schemas.microsoft.com/office/drawing/2014/main" id="{83A93912-2DE9-F33F-008E-0AF14AB915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183" y="5413753"/>
            <a:ext cx="1331735" cy="1020997"/>
          </a:xfrm>
          <a:prstGeom prst="rect">
            <a:avLst/>
          </a:prstGeom>
        </p:spPr>
      </p:pic>
      <p:cxnSp>
        <p:nvCxnSpPr>
          <p:cNvPr id="11" name="Gerader Verbinder 10">
            <a:extLst>
              <a:ext uri="{FF2B5EF4-FFF2-40B4-BE49-F238E27FC236}">
                <a16:creationId xmlns:a16="http://schemas.microsoft.com/office/drawing/2014/main" id="{0432884C-C6E1-FAD7-FF97-ED97AE642118}"/>
              </a:ext>
            </a:extLst>
          </p:cNvPr>
          <p:cNvCxnSpPr>
            <a:cxnSpLocks/>
          </p:cNvCxnSpPr>
          <p:nvPr/>
        </p:nvCxnSpPr>
        <p:spPr>
          <a:xfrm flipV="1">
            <a:off x="793848" y="4465529"/>
            <a:ext cx="10736360" cy="0"/>
          </a:xfrm>
          <a:prstGeom prst="line">
            <a:avLst/>
          </a:prstGeom>
        </p:spPr>
        <p:style>
          <a:lnRef idx="2">
            <a:schemeClr val="dk1"/>
          </a:lnRef>
          <a:fillRef idx="0">
            <a:schemeClr val="dk1"/>
          </a:fillRef>
          <a:effectRef idx="1">
            <a:schemeClr val="dk1"/>
          </a:effectRef>
          <a:fontRef idx="minor">
            <a:schemeClr val="tx1"/>
          </a:fontRef>
        </p:style>
      </p:cxnSp>
      <p:cxnSp>
        <p:nvCxnSpPr>
          <p:cNvPr id="13" name="Gerader Verbinder 12">
            <a:extLst>
              <a:ext uri="{FF2B5EF4-FFF2-40B4-BE49-F238E27FC236}">
                <a16:creationId xmlns:a16="http://schemas.microsoft.com/office/drawing/2014/main" id="{05297913-EB4B-4BA6-517B-06B00BBAEE1C}"/>
              </a:ext>
            </a:extLst>
          </p:cNvPr>
          <p:cNvCxnSpPr>
            <a:cxnSpLocks/>
          </p:cNvCxnSpPr>
          <p:nvPr/>
        </p:nvCxnSpPr>
        <p:spPr>
          <a:xfrm flipV="1">
            <a:off x="869004" y="972854"/>
            <a:ext cx="10736360" cy="0"/>
          </a:xfrm>
          <a:prstGeom prst="line">
            <a:avLst/>
          </a:prstGeom>
          <a:ln w="762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3489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D5712E-3525-3770-9A54-796382BEBCE9}"/>
              </a:ext>
            </a:extLst>
          </p:cNvPr>
          <p:cNvSpPr>
            <a:spLocks noGrp="1"/>
          </p:cNvSpPr>
          <p:nvPr>
            <p:ph type="title"/>
          </p:nvPr>
        </p:nvSpPr>
        <p:spPr>
          <a:xfrm>
            <a:off x="0" y="365125"/>
            <a:ext cx="12192000" cy="1325563"/>
          </a:xfrm>
        </p:spPr>
        <p:txBody>
          <a:bodyPr/>
          <a:lstStyle/>
          <a:p>
            <a:pPr algn="ctr"/>
            <a:r>
              <a:rPr lang="en-US" noProof="0" dirty="0"/>
              <a:t>Goal and Motivation</a:t>
            </a:r>
          </a:p>
        </p:txBody>
      </p:sp>
      <p:sp>
        <p:nvSpPr>
          <p:cNvPr id="5" name="Inhaltsplatzhalter 4">
            <a:extLst>
              <a:ext uri="{FF2B5EF4-FFF2-40B4-BE49-F238E27FC236}">
                <a16:creationId xmlns:a16="http://schemas.microsoft.com/office/drawing/2014/main" id="{84D7BA05-3469-65DC-AC37-E271FA13271A}"/>
              </a:ext>
            </a:extLst>
          </p:cNvPr>
          <p:cNvSpPr>
            <a:spLocks noGrp="1"/>
          </p:cNvSpPr>
          <p:nvPr>
            <p:ph idx="1"/>
          </p:nvPr>
        </p:nvSpPr>
        <p:spPr>
          <a:xfrm>
            <a:off x="838200" y="1813099"/>
            <a:ext cx="5257800" cy="4351338"/>
          </a:xfrm>
        </p:spPr>
        <p:txBody>
          <a:bodyPr/>
          <a:lstStyle/>
          <a:p>
            <a:pPr marL="0" indent="0">
              <a:buNone/>
            </a:pPr>
            <a:r>
              <a:rPr lang="en-US" noProof="0" dirty="0"/>
              <a:t>Goal / Aim of your project.</a:t>
            </a:r>
          </a:p>
          <a:p>
            <a:pPr marL="0" indent="0">
              <a:buNone/>
            </a:pPr>
            <a:r>
              <a:rPr lang="en-US" noProof="0" dirty="0"/>
              <a:t>What are you doing?</a:t>
            </a:r>
          </a:p>
        </p:txBody>
      </p:sp>
      <p:sp>
        <p:nvSpPr>
          <p:cNvPr id="7" name="Rectangle 3">
            <a:extLst>
              <a:ext uri="{FF2B5EF4-FFF2-40B4-BE49-F238E27FC236}">
                <a16:creationId xmlns:a16="http://schemas.microsoft.com/office/drawing/2014/main" id="{9223C49E-C332-EE90-2743-6B79929C30F7}"/>
              </a:ext>
            </a:extLst>
          </p:cNvPr>
          <p:cNvSpPr/>
          <p:nvPr/>
        </p:nvSpPr>
        <p:spPr>
          <a:xfrm>
            <a:off x="-12527" y="6494292"/>
            <a:ext cx="5002654" cy="369971"/>
          </a:xfrm>
          <a:prstGeom prst="rect">
            <a:avLst/>
          </a:prstGeom>
          <a:solidFill>
            <a:srgbClr val="203A5D">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4">
            <a:extLst>
              <a:ext uri="{FF2B5EF4-FFF2-40B4-BE49-F238E27FC236}">
                <a16:creationId xmlns:a16="http://schemas.microsoft.com/office/drawing/2014/main" id="{14CD3C99-600A-9428-7E01-8851ACCA1E65}"/>
              </a:ext>
            </a:extLst>
          </p:cNvPr>
          <p:cNvSpPr/>
          <p:nvPr/>
        </p:nvSpPr>
        <p:spPr>
          <a:xfrm>
            <a:off x="7069870" y="6494292"/>
            <a:ext cx="5128392" cy="369971"/>
          </a:xfrm>
          <a:prstGeom prst="rect">
            <a:avLst/>
          </a:prstGeom>
          <a:solidFill>
            <a:srgbClr val="FF0A3B">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5">
            <a:extLst>
              <a:ext uri="{FF2B5EF4-FFF2-40B4-BE49-F238E27FC236}">
                <a16:creationId xmlns:a16="http://schemas.microsoft.com/office/drawing/2014/main" id="{7E63DB91-5819-6F8D-8DAA-5B36671695AA}"/>
              </a:ext>
            </a:extLst>
          </p:cNvPr>
          <p:cNvSpPr/>
          <p:nvPr/>
        </p:nvSpPr>
        <p:spPr>
          <a:xfrm>
            <a:off x="4990127" y="6494292"/>
            <a:ext cx="2079743" cy="369971"/>
          </a:xfrm>
          <a:prstGeom prst="rect">
            <a:avLst/>
          </a:prstGeom>
          <a:gradFill flip="none" rotWithShape="1">
            <a:gsLst>
              <a:gs pos="50000">
                <a:srgbClr val="820924">
                  <a:alpha val="70000"/>
                </a:srgbClr>
              </a:gs>
              <a:gs pos="0">
                <a:srgbClr val="FF0A3B">
                  <a:alpha val="50000"/>
                </a:srgbClr>
              </a:gs>
              <a:gs pos="100000">
                <a:srgbClr val="203A5D">
                  <a:alpha val="80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7">
            <a:extLst>
              <a:ext uri="{FF2B5EF4-FFF2-40B4-BE49-F238E27FC236}">
                <a16:creationId xmlns:a16="http://schemas.microsoft.com/office/drawing/2014/main" id="{C7D20004-A543-401B-2510-FD4216AC0225}"/>
              </a:ext>
            </a:extLst>
          </p:cNvPr>
          <p:cNvSpPr txBox="1"/>
          <p:nvPr/>
        </p:nvSpPr>
        <p:spPr>
          <a:xfrm>
            <a:off x="11405731" y="6513183"/>
            <a:ext cx="559469" cy="338554"/>
          </a:xfrm>
          <a:prstGeom prst="rect">
            <a:avLst/>
          </a:prstGeom>
          <a:noFill/>
        </p:spPr>
        <p:txBody>
          <a:bodyPr wrap="square" rtlCol="0">
            <a:spAutoFit/>
          </a:bodyPr>
          <a:lstStyle/>
          <a:p>
            <a:pPr algn="r"/>
            <a:r>
              <a:rPr lang="en-US" sz="1600" noProof="0" dirty="0">
                <a:latin typeface="Arial" panose="020B0604020202020204" pitchFamily="34" charset="0"/>
                <a:cs typeface="Arial" panose="020B0604020202020204" pitchFamily="34" charset="0"/>
              </a:rPr>
              <a:t>1</a:t>
            </a:r>
          </a:p>
        </p:txBody>
      </p:sp>
      <p:sp>
        <p:nvSpPr>
          <p:cNvPr id="12" name="TextBox 8">
            <a:extLst>
              <a:ext uri="{FF2B5EF4-FFF2-40B4-BE49-F238E27FC236}">
                <a16:creationId xmlns:a16="http://schemas.microsoft.com/office/drawing/2014/main" id="{89506026-FDC1-FD08-9D05-18106CEC9ADB}"/>
              </a:ext>
            </a:extLst>
          </p:cNvPr>
          <p:cNvSpPr txBox="1"/>
          <p:nvPr/>
        </p:nvSpPr>
        <p:spPr>
          <a:xfrm>
            <a:off x="226799" y="6513183"/>
            <a:ext cx="4513919" cy="338554"/>
          </a:xfrm>
          <a:prstGeom prst="rect">
            <a:avLst/>
          </a:prstGeom>
          <a:noFill/>
        </p:spPr>
        <p:txBody>
          <a:bodyPr wrap="square" rtlCol="0">
            <a:spAutoFit/>
          </a:bodyPr>
          <a:lstStyle/>
          <a:p>
            <a:r>
              <a:rPr lang="en-US" sz="1600" noProof="0" dirty="0">
                <a:solidFill>
                  <a:schemeClr val="bg1"/>
                </a:solidFill>
                <a:latin typeface="Arial" panose="020B0604020202020204" pitchFamily="34" charset="0"/>
                <a:cs typeface="Arial" panose="020B0604020202020204" pitchFamily="34" charset="0"/>
              </a:rPr>
              <a:t>University of Bern – Deep Learning</a:t>
            </a:r>
          </a:p>
        </p:txBody>
      </p:sp>
      <p:sp>
        <p:nvSpPr>
          <p:cNvPr id="16" name="TextBox 10">
            <a:extLst>
              <a:ext uri="{FF2B5EF4-FFF2-40B4-BE49-F238E27FC236}">
                <a16:creationId xmlns:a16="http://schemas.microsoft.com/office/drawing/2014/main" id="{1649C3BF-FB33-EEF4-386C-C4FBF835206F}"/>
              </a:ext>
            </a:extLst>
          </p:cNvPr>
          <p:cNvSpPr txBox="1"/>
          <p:nvPr/>
        </p:nvSpPr>
        <p:spPr>
          <a:xfrm>
            <a:off x="7153834" y="6519446"/>
            <a:ext cx="3845490" cy="338554"/>
          </a:xfrm>
          <a:prstGeom prst="rect">
            <a:avLst/>
          </a:prstGeom>
          <a:noFill/>
        </p:spPr>
        <p:txBody>
          <a:bodyPr wrap="square" rtlCol="0">
            <a:spAutoFit/>
          </a:bodyPr>
          <a:lstStyle/>
          <a:p>
            <a:r>
              <a:rPr lang="en-US" sz="1600" dirty="0"/>
              <a:t>Multimodal Skin Lesion Classification</a:t>
            </a:r>
            <a:endParaRPr lang="en-US" sz="1600" noProof="0" dirty="0">
              <a:latin typeface="Arial" panose="020B0604020202020204" pitchFamily="34" charset="0"/>
              <a:cs typeface="Arial" panose="020B0604020202020204" pitchFamily="34" charset="0"/>
            </a:endParaRPr>
          </a:p>
        </p:txBody>
      </p:sp>
      <p:sp>
        <p:nvSpPr>
          <p:cNvPr id="3" name="Inhaltsplatzhalter 4">
            <a:extLst>
              <a:ext uri="{FF2B5EF4-FFF2-40B4-BE49-F238E27FC236}">
                <a16:creationId xmlns:a16="http://schemas.microsoft.com/office/drawing/2014/main" id="{C2604F09-E680-E95B-41A9-6BEBD7625DC7}"/>
              </a:ext>
            </a:extLst>
          </p:cNvPr>
          <p:cNvSpPr txBox="1">
            <a:spLocks/>
          </p:cNvSpPr>
          <p:nvPr/>
        </p:nvSpPr>
        <p:spPr>
          <a:xfrm>
            <a:off x="6096000" y="1813099"/>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noProof="0" dirty="0"/>
              <a:t>Motivation / Impact of your project.</a:t>
            </a:r>
          </a:p>
          <a:p>
            <a:pPr marL="0" indent="0">
              <a:buFont typeface="Arial" panose="020B0604020202020204" pitchFamily="34" charset="0"/>
              <a:buNone/>
            </a:pPr>
            <a:r>
              <a:rPr lang="en-US" noProof="0" dirty="0"/>
              <a:t>Why are you doing it?</a:t>
            </a:r>
          </a:p>
        </p:txBody>
      </p:sp>
      <p:pic>
        <p:nvPicPr>
          <p:cNvPr id="4" name="Picture 18" descr="A black background with red text&#10;&#10;Description automatically generated">
            <a:extLst>
              <a:ext uri="{FF2B5EF4-FFF2-40B4-BE49-F238E27FC236}">
                <a16:creationId xmlns:a16="http://schemas.microsoft.com/office/drawing/2014/main" id="{71A0C794-CCE0-8B7F-9C21-C00AB4898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7932" y="242714"/>
            <a:ext cx="1331735" cy="1020997"/>
          </a:xfrm>
          <a:prstGeom prst="rect">
            <a:avLst/>
          </a:prstGeom>
        </p:spPr>
      </p:pic>
    </p:spTree>
    <p:extLst>
      <p:ext uri="{BB962C8B-B14F-4D97-AF65-F5344CB8AC3E}">
        <p14:creationId xmlns:p14="http://schemas.microsoft.com/office/powerpoint/2010/main" val="467336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189E-C7DA-32AA-3823-0F52386E5C2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045365C-C3F1-AC36-B565-659E390E21CD}"/>
              </a:ext>
            </a:extLst>
          </p:cNvPr>
          <p:cNvSpPr>
            <a:spLocks noGrp="1"/>
          </p:cNvSpPr>
          <p:nvPr>
            <p:ph type="title"/>
          </p:nvPr>
        </p:nvSpPr>
        <p:spPr>
          <a:xfrm>
            <a:off x="0" y="365125"/>
            <a:ext cx="12192000" cy="1325563"/>
          </a:xfrm>
        </p:spPr>
        <p:txBody>
          <a:bodyPr/>
          <a:lstStyle/>
          <a:p>
            <a:pPr algn="ctr"/>
            <a:r>
              <a:rPr lang="en-US" noProof="0" dirty="0"/>
              <a:t>Challenges and Prior Work</a:t>
            </a:r>
          </a:p>
        </p:txBody>
      </p:sp>
      <p:sp>
        <p:nvSpPr>
          <p:cNvPr id="5" name="Inhaltsplatzhalter 4">
            <a:extLst>
              <a:ext uri="{FF2B5EF4-FFF2-40B4-BE49-F238E27FC236}">
                <a16:creationId xmlns:a16="http://schemas.microsoft.com/office/drawing/2014/main" id="{E337FD47-9DF2-99B5-B42C-3356E2064179}"/>
              </a:ext>
            </a:extLst>
          </p:cNvPr>
          <p:cNvSpPr>
            <a:spLocks noGrp="1"/>
          </p:cNvSpPr>
          <p:nvPr>
            <p:ph idx="1"/>
          </p:nvPr>
        </p:nvSpPr>
        <p:spPr>
          <a:xfrm>
            <a:off x="838200" y="1813099"/>
            <a:ext cx="5257800" cy="4351338"/>
          </a:xfrm>
        </p:spPr>
        <p:txBody>
          <a:bodyPr/>
          <a:lstStyle/>
          <a:p>
            <a:pPr marL="0" indent="0">
              <a:buNone/>
            </a:pPr>
            <a:r>
              <a:rPr lang="en-US" noProof="0" dirty="0"/>
              <a:t>Challenges to reach the stated goal of your project.</a:t>
            </a:r>
          </a:p>
          <a:p>
            <a:pPr marL="0" indent="0">
              <a:buNone/>
            </a:pPr>
            <a:r>
              <a:rPr lang="en-US" noProof="0" dirty="0"/>
              <a:t>Why hasn’t it been done already?</a:t>
            </a:r>
          </a:p>
          <a:p>
            <a:pPr marL="0" indent="0">
              <a:buNone/>
            </a:pPr>
            <a:r>
              <a:rPr lang="en-US" dirty="0"/>
              <a:t>Why is it non-trivial to achieve?</a:t>
            </a:r>
            <a:endParaRPr lang="en-US" noProof="0" dirty="0"/>
          </a:p>
        </p:txBody>
      </p:sp>
      <p:sp>
        <p:nvSpPr>
          <p:cNvPr id="7" name="Rectangle 3">
            <a:extLst>
              <a:ext uri="{FF2B5EF4-FFF2-40B4-BE49-F238E27FC236}">
                <a16:creationId xmlns:a16="http://schemas.microsoft.com/office/drawing/2014/main" id="{B19ECF5D-110D-6167-5AF4-463535B0BF88}"/>
              </a:ext>
            </a:extLst>
          </p:cNvPr>
          <p:cNvSpPr/>
          <p:nvPr/>
        </p:nvSpPr>
        <p:spPr>
          <a:xfrm>
            <a:off x="-12527" y="6494292"/>
            <a:ext cx="5002654" cy="369971"/>
          </a:xfrm>
          <a:prstGeom prst="rect">
            <a:avLst/>
          </a:prstGeom>
          <a:solidFill>
            <a:srgbClr val="203A5D">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4">
            <a:extLst>
              <a:ext uri="{FF2B5EF4-FFF2-40B4-BE49-F238E27FC236}">
                <a16:creationId xmlns:a16="http://schemas.microsoft.com/office/drawing/2014/main" id="{4B35CAB2-4496-7817-F566-4AD610001BD9}"/>
              </a:ext>
            </a:extLst>
          </p:cNvPr>
          <p:cNvSpPr/>
          <p:nvPr/>
        </p:nvSpPr>
        <p:spPr>
          <a:xfrm>
            <a:off x="7069870" y="6494292"/>
            <a:ext cx="5128392" cy="369971"/>
          </a:xfrm>
          <a:prstGeom prst="rect">
            <a:avLst/>
          </a:prstGeom>
          <a:solidFill>
            <a:srgbClr val="FF0A3B">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5">
            <a:extLst>
              <a:ext uri="{FF2B5EF4-FFF2-40B4-BE49-F238E27FC236}">
                <a16:creationId xmlns:a16="http://schemas.microsoft.com/office/drawing/2014/main" id="{F1922E1C-1BC9-39F6-FFC9-E52894B6AD84}"/>
              </a:ext>
            </a:extLst>
          </p:cNvPr>
          <p:cNvSpPr/>
          <p:nvPr/>
        </p:nvSpPr>
        <p:spPr>
          <a:xfrm>
            <a:off x="4990127" y="6494292"/>
            <a:ext cx="2079743" cy="369971"/>
          </a:xfrm>
          <a:prstGeom prst="rect">
            <a:avLst/>
          </a:prstGeom>
          <a:gradFill flip="none" rotWithShape="1">
            <a:gsLst>
              <a:gs pos="50000">
                <a:srgbClr val="820924">
                  <a:alpha val="70000"/>
                </a:srgbClr>
              </a:gs>
              <a:gs pos="0">
                <a:srgbClr val="FF0A3B">
                  <a:alpha val="50000"/>
                </a:srgbClr>
              </a:gs>
              <a:gs pos="100000">
                <a:srgbClr val="203A5D">
                  <a:alpha val="80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7">
            <a:extLst>
              <a:ext uri="{FF2B5EF4-FFF2-40B4-BE49-F238E27FC236}">
                <a16:creationId xmlns:a16="http://schemas.microsoft.com/office/drawing/2014/main" id="{D50387C3-71E5-1EAC-233D-CDDA4E4CA907}"/>
              </a:ext>
            </a:extLst>
          </p:cNvPr>
          <p:cNvSpPr txBox="1"/>
          <p:nvPr/>
        </p:nvSpPr>
        <p:spPr>
          <a:xfrm>
            <a:off x="11405731" y="6513183"/>
            <a:ext cx="559469" cy="338554"/>
          </a:xfrm>
          <a:prstGeom prst="rect">
            <a:avLst/>
          </a:prstGeom>
          <a:noFill/>
        </p:spPr>
        <p:txBody>
          <a:bodyPr wrap="square" rtlCol="0">
            <a:spAutoFit/>
          </a:bodyPr>
          <a:lstStyle/>
          <a:p>
            <a:pPr algn="r"/>
            <a:r>
              <a:rPr lang="en-US" sz="1600" noProof="0" dirty="0">
                <a:latin typeface="Arial" panose="020B0604020202020204" pitchFamily="34" charset="0"/>
                <a:cs typeface="Arial" panose="020B0604020202020204" pitchFamily="34" charset="0"/>
              </a:rPr>
              <a:t>2</a:t>
            </a:r>
          </a:p>
        </p:txBody>
      </p:sp>
      <p:sp>
        <p:nvSpPr>
          <p:cNvPr id="12" name="TextBox 8">
            <a:extLst>
              <a:ext uri="{FF2B5EF4-FFF2-40B4-BE49-F238E27FC236}">
                <a16:creationId xmlns:a16="http://schemas.microsoft.com/office/drawing/2014/main" id="{AC6B3B27-5984-6084-6CAF-3BC5FE772D99}"/>
              </a:ext>
            </a:extLst>
          </p:cNvPr>
          <p:cNvSpPr txBox="1"/>
          <p:nvPr/>
        </p:nvSpPr>
        <p:spPr>
          <a:xfrm>
            <a:off x="226799" y="6513183"/>
            <a:ext cx="4513919" cy="338554"/>
          </a:xfrm>
          <a:prstGeom prst="rect">
            <a:avLst/>
          </a:prstGeom>
          <a:noFill/>
        </p:spPr>
        <p:txBody>
          <a:bodyPr wrap="square" rtlCol="0">
            <a:spAutoFit/>
          </a:bodyPr>
          <a:lstStyle/>
          <a:p>
            <a:r>
              <a:rPr lang="en-US" sz="1600" noProof="0" dirty="0">
                <a:solidFill>
                  <a:schemeClr val="bg1"/>
                </a:solidFill>
                <a:latin typeface="Arial" panose="020B0604020202020204" pitchFamily="34" charset="0"/>
                <a:cs typeface="Arial" panose="020B0604020202020204" pitchFamily="34" charset="0"/>
              </a:rPr>
              <a:t>University of Bern – Deep Learning</a:t>
            </a:r>
          </a:p>
        </p:txBody>
      </p:sp>
      <p:sp>
        <p:nvSpPr>
          <p:cNvPr id="3" name="Inhaltsplatzhalter 4">
            <a:extLst>
              <a:ext uri="{FF2B5EF4-FFF2-40B4-BE49-F238E27FC236}">
                <a16:creationId xmlns:a16="http://schemas.microsoft.com/office/drawing/2014/main" id="{4BB3433A-2609-42C7-C879-7DC0480B1ED9}"/>
              </a:ext>
            </a:extLst>
          </p:cNvPr>
          <p:cNvSpPr txBox="1">
            <a:spLocks/>
          </p:cNvSpPr>
          <p:nvPr/>
        </p:nvSpPr>
        <p:spPr>
          <a:xfrm>
            <a:off x="6096000" y="1813099"/>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noProof="0" dirty="0"/>
              <a:t>Prior Work</a:t>
            </a:r>
          </a:p>
          <a:p>
            <a:pPr marL="0" indent="0">
              <a:buFont typeface="Arial" panose="020B0604020202020204" pitchFamily="34" charset="0"/>
              <a:buNone/>
            </a:pPr>
            <a:r>
              <a:rPr lang="en-US" dirty="0"/>
              <a:t>Which attempts have been done by the field to solve your problem?</a:t>
            </a:r>
          </a:p>
          <a:p>
            <a:pPr marL="0" indent="0">
              <a:buFont typeface="Arial" panose="020B0604020202020204" pitchFamily="34" charset="0"/>
              <a:buNone/>
            </a:pPr>
            <a:r>
              <a:rPr lang="en-US" noProof="0" dirty="0"/>
              <a:t>What about similar problems?</a:t>
            </a:r>
          </a:p>
        </p:txBody>
      </p:sp>
      <p:sp>
        <p:nvSpPr>
          <p:cNvPr id="6" name="TextBox 10">
            <a:extLst>
              <a:ext uri="{FF2B5EF4-FFF2-40B4-BE49-F238E27FC236}">
                <a16:creationId xmlns:a16="http://schemas.microsoft.com/office/drawing/2014/main" id="{B11C6AE3-86DB-E0F0-CD41-86FDE62A3C53}"/>
              </a:ext>
            </a:extLst>
          </p:cNvPr>
          <p:cNvSpPr txBox="1"/>
          <p:nvPr/>
        </p:nvSpPr>
        <p:spPr>
          <a:xfrm>
            <a:off x="7153834" y="6519446"/>
            <a:ext cx="3845490" cy="338554"/>
          </a:xfrm>
          <a:prstGeom prst="rect">
            <a:avLst/>
          </a:prstGeom>
          <a:noFill/>
        </p:spPr>
        <p:txBody>
          <a:bodyPr wrap="square" rtlCol="0">
            <a:spAutoFit/>
          </a:bodyPr>
          <a:lstStyle/>
          <a:p>
            <a:r>
              <a:rPr lang="en-US" sz="1600" dirty="0"/>
              <a:t>Multimodal Skin Lesion Classification</a:t>
            </a:r>
            <a:endParaRPr lang="en-US" sz="1600" noProof="0" dirty="0">
              <a:latin typeface="Arial" panose="020B0604020202020204" pitchFamily="34" charset="0"/>
              <a:cs typeface="Arial" panose="020B0604020202020204" pitchFamily="34" charset="0"/>
            </a:endParaRPr>
          </a:p>
        </p:txBody>
      </p:sp>
      <p:pic>
        <p:nvPicPr>
          <p:cNvPr id="11" name="Picture 18" descr="A black background with red text&#10;&#10;Description automatically generated">
            <a:extLst>
              <a:ext uri="{FF2B5EF4-FFF2-40B4-BE49-F238E27FC236}">
                <a16:creationId xmlns:a16="http://schemas.microsoft.com/office/drawing/2014/main" id="{7C7383B1-7C76-9FA8-1EFB-995E8F975E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7932" y="242714"/>
            <a:ext cx="1331735" cy="1020997"/>
          </a:xfrm>
          <a:prstGeom prst="rect">
            <a:avLst/>
          </a:prstGeom>
        </p:spPr>
      </p:pic>
    </p:spTree>
    <p:extLst>
      <p:ext uri="{BB962C8B-B14F-4D97-AF65-F5344CB8AC3E}">
        <p14:creationId xmlns:p14="http://schemas.microsoft.com/office/powerpoint/2010/main" val="3033156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70B88-40D8-1167-9A29-3D78E220783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1124F0B-94EB-0533-302A-7F1D79147CCD}"/>
              </a:ext>
            </a:extLst>
          </p:cNvPr>
          <p:cNvSpPr>
            <a:spLocks noGrp="1"/>
          </p:cNvSpPr>
          <p:nvPr>
            <p:ph type="title"/>
          </p:nvPr>
        </p:nvSpPr>
        <p:spPr>
          <a:xfrm>
            <a:off x="0" y="365125"/>
            <a:ext cx="12192000" cy="1325563"/>
          </a:xfrm>
        </p:spPr>
        <p:txBody>
          <a:bodyPr/>
          <a:lstStyle/>
          <a:p>
            <a:pPr algn="ctr"/>
            <a:r>
              <a:rPr lang="en-US" noProof="0" dirty="0"/>
              <a:t>Method and Design Choices</a:t>
            </a:r>
          </a:p>
        </p:txBody>
      </p:sp>
      <p:sp>
        <p:nvSpPr>
          <p:cNvPr id="5" name="Inhaltsplatzhalter 4">
            <a:extLst>
              <a:ext uri="{FF2B5EF4-FFF2-40B4-BE49-F238E27FC236}">
                <a16:creationId xmlns:a16="http://schemas.microsoft.com/office/drawing/2014/main" id="{1701ED6A-7184-6D7F-F796-ADCA81B50206}"/>
              </a:ext>
            </a:extLst>
          </p:cNvPr>
          <p:cNvSpPr>
            <a:spLocks noGrp="1"/>
          </p:cNvSpPr>
          <p:nvPr>
            <p:ph idx="1"/>
          </p:nvPr>
        </p:nvSpPr>
        <p:spPr>
          <a:xfrm>
            <a:off x="838199" y="1813099"/>
            <a:ext cx="10567531" cy="4351338"/>
          </a:xfrm>
        </p:spPr>
        <p:txBody>
          <a:bodyPr/>
          <a:lstStyle/>
          <a:p>
            <a:pPr marL="0" indent="0">
              <a:buNone/>
            </a:pPr>
            <a:r>
              <a:rPr lang="en-US" noProof="0" dirty="0"/>
              <a:t>Method</a:t>
            </a:r>
          </a:p>
          <a:p>
            <a:pPr marL="0" indent="0">
              <a:buNone/>
            </a:pPr>
            <a:r>
              <a:rPr lang="en-US" dirty="0"/>
              <a:t>What are you doing in detail?</a:t>
            </a:r>
          </a:p>
          <a:p>
            <a:pPr marL="0" indent="0">
              <a:buNone/>
            </a:pPr>
            <a:r>
              <a:rPr lang="en-US" noProof="0" dirty="0"/>
              <a:t>(Obviously adjust granularity to 5 min budget, standard stuff can be called standard and kept very brief.)</a:t>
            </a:r>
          </a:p>
          <a:p>
            <a:pPr marL="0" indent="0">
              <a:buNone/>
            </a:pPr>
            <a:r>
              <a:rPr lang="en-US" dirty="0"/>
              <a:t>How is this related to content of slides 1 and 2? I.e. how are you motivating the method and design choices made?</a:t>
            </a:r>
          </a:p>
        </p:txBody>
      </p:sp>
      <p:sp>
        <p:nvSpPr>
          <p:cNvPr id="7" name="Rectangle 3">
            <a:extLst>
              <a:ext uri="{FF2B5EF4-FFF2-40B4-BE49-F238E27FC236}">
                <a16:creationId xmlns:a16="http://schemas.microsoft.com/office/drawing/2014/main" id="{95BEFEFC-CE5D-5C54-78B9-702825669481}"/>
              </a:ext>
            </a:extLst>
          </p:cNvPr>
          <p:cNvSpPr/>
          <p:nvPr/>
        </p:nvSpPr>
        <p:spPr>
          <a:xfrm>
            <a:off x="-12527" y="6494292"/>
            <a:ext cx="5002654" cy="369971"/>
          </a:xfrm>
          <a:prstGeom prst="rect">
            <a:avLst/>
          </a:prstGeom>
          <a:solidFill>
            <a:srgbClr val="203A5D">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4">
            <a:extLst>
              <a:ext uri="{FF2B5EF4-FFF2-40B4-BE49-F238E27FC236}">
                <a16:creationId xmlns:a16="http://schemas.microsoft.com/office/drawing/2014/main" id="{BD1DFFD4-56DB-C7D5-084A-3AED024C7B81}"/>
              </a:ext>
            </a:extLst>
          </p:cNvPr>
          <p:cNvSpPr/>
          <p:nvPr/>
        </p:nvSpPr>
        <p:spPr>
          <a:xfrm>
            <a:off x="7069870" y="6494292"/>
            <a:ext cx="5128392" cy="369971"/>
          </a:xfrm>
          <a:prstGeom prst="rect">
            <a:avLst/>
          </a:prstGeom>
          <a:solidFill>
            <a:srgbClr val="FF0A3B">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5">
            <a:extLst>
              <a:ext uri="{FF2B5EF4-FFF2-40B4-BE49-F238E27FC236}">
                <a16:creationId xmlns:a16="http://schemas.microsoft.com/office/drawing/2014/main" id="{21D34F92-D9AC-1A4F-45F1-623B2FAD7554}"/>
              </a:ext>
            </a:extLst>
          </p:cNvPr>
          <p:cNvSpPr/>
          <p:nvPr/>
        </p:nvSpPr>
        <p:spPr>
          <a:xfrm>
            <a:off x="4990127" y="6494292"/>
            <a:ext cx="2079743" cy="369971"/>
          </a:xfrm>
          <a:prstGeom prst="rect">
            <a:avLst/>
          </a:prstGeom>
          <a:gradFill flip="none" rotWithShape="1">
            <a:gsLst>
              <a:gs pos="50000">
                <a:srgbClr val="820924">
                  <a:alpha val="70000"/>
                </a:srgbClr>
              </a:gs>
              <a:gs pos="0">
                <a:srgbClr val="FF0A3B">
                  <a:alpha val="50000"/>
                </a:srgbClr>
              </a:gs>
              <a:gs pos="100000">
                <a:srgbClr val="203A5D">
                  <a:alpha val="80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7">
            <a:extLst>
              <a:ext uri="{FF2B5EF4-FFF2-40B4-BE49-F238E27FC236}">
                <a16:creationId xmlns:a16="http://schemas.microsoft.com/office/drawing/2014/main" id="{45FFB8FE-4A45-330A-EE88-88121C81C6AA}"/>
              </a:ext>
            </a:extLst>
          </p:cNvPr>
          <p:cNvSpPr txBox="1"/>
          <p:nvPr/>
        </p:nvSpPr>
        <p:spPr>
          <a:xfrm>
            <a:off x="11405731" y="6513183"/>
            <a:ext cx="559469" cy="338554"/>
          </a:xfrm>
          <a:prstGeom prst="rect">
            <a:avLst/>
          </a:prstGeom>
          <a:noFill/>
        </p:spPr>
        <p:txBody>
          <a:bodyPr wrap="square" rtlCol="0">
            <a:spAutoFit/>
          </a:bodyPr>
          <a:lstStyle/>
          <a:p>
            <a:pPr algn="r"/>
            <a:r>
              <a:rPr lang="en-US" sz="1600" dirty="0">
                <a:latin typeface="Arial" panose="020B0604020202020204" pitchFamily="34" charset="0"/>
                <a:cs typeface="Arial" panose="020B0604020202020204" pitchFamily="34" charset="0"/>
              </a:rPr>
              <a:t>3</a:t>
            </a:r>
            <a:endParaRPr lang="en-US" sz="1600" noProof="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82FC864A-CB8A-B53F-9FF4-2E8568666D54}"/>
              </a:ext>
            </a:extLst>
          </p:cNvPr>
          <p:cNvSpPr txBox="1"/>
          <p:nvPr/>
        </p:nvSpPr>
        <p:spPr>
          <a:xfrm>
            <a:off x="226799" y="6513183"/>
            <a:ext cx="4513919" cy="338554"/>
          </a:xfrm>
          <a:prstGeom prst="rect">
            <a:avLst/>
          </a:prstGeom>
          <a:noFill/>
        </p:spPr>
        <p:txBody>
          <a:bodyPr wrap="square" rtlCol="0">
            <a:spAutoFit/>
          </a:bodyPr>
          <a:lstStyle/>
          <a:p>
            <a:r>
              <a:rPr lang="en-US" sz="1600" noProof="0" dirty="0">
                <a:solidFill>
                  <a:schemeClr val="bg1"/>
                </a:solidFill>
                <a:latin typeface="Arial" panose="020B0604020202020204" pitchFamily="34" charset="0"/>
                <a:cs typeface="Arial" panose="020B0604020202020204" pitchFamily="34" charset="0"/>
              </a:rPr>
              <a:t>University of Bern – Deep Learning</a:t>
            </a:r>
          </a:p>
        </p:txBody>
      </p:sp>
      <p:sp>
        <p:nvSpPr>
          <p:cNvPr id="3" name="TextBox 10">
            <a:extLst>
              <a:ext uri="{FF2B5EF4-FFF2-40B4-BE49-F238E27FC236}">
                <a16:creationId xmlns:a16="http://schemas.microsoft.com/office/drawing/2014/main" id="{8725BA55-5B6C-66C1-5AD1-4066ED9D0563}"/>
              </a:ext>
            </a:extLst>
          </p:cNvPr>
          <p:cNvSpPr txBox="1"/>
          <p:nvPr/>
        </p:nvSpPr>
        <p:spPr>
          <a:xfrm>
            <a:off x="7153834" y="6519446"/>
            <a:ext cx="3845490" cy="338554"/>
          </a:xfrm>
          <a:prstGeom prst="rect">
            <a:avLst/>
          </a:prstGeom>
          <a:noFill/>
        </p:spPr>
        <p:txBody>
          <a:bodyPr wrap="square" rtlCol="0">
            <a:spAutoFit/>
          </a:bodyPr>
          <a:lstStyle/>
          <a:p>
            <a:r>
              <a:rPr lang="en-US" sz="1600" dirty="0"/>
              <a:t>Multimodal Skin Lesion Classification</a:t>
            </a:r>
            <a:endParaRPr lang="en-US" sz="1600" noProof="0" dirty="0">
              <a:latin typeface="Arial" panose="020B0604020202020204" pitchFamily="34" charset="0"/>
              <a:cs typeface="Arial" panose="020B0604020202020204" pitchFamily="34" charset="0"/>
            </a:endParaRPr>
          </a:p>
        </p:txBody>
      </p:sp>
      <p:pic>
        <p:nvPicPr>
          <p:cNvPr id="4" name="Picture 18" descr="A black background with red text&#10;&#10;Description automatically generated">
            <a:extLst>
              <a:ext uri="{FF2B5EF4-FFF2-40B4-BE49-F238E27FC236}">
                <a16:creationId xmlns:a16="http://schemas.microsoft.com/office/drawing/2014/main" id="{D75C872F-A888-818C-A017-564E1DB5A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7932" y="242714"/>
            <a:ext cx="1331735" cy="1020997"/>
          </a:xfrm>
          <a:prstGeom prst="rect">
            <a:avLst/>
          </a:prstGeom>
        </p:spPr>
      </p:pic>
    </p:spTree>
    <p:extLst>
      <p:ext uri="{BB962C8B-B14F-4D97-AF65-F5344CB8AC3E}">
        <p14:creationId xmlns:p14="http://schemas.microsoft.com/office/powerpoint/2010/main" val="2723962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3D79B-46B2-844A-28C7-ADB09BDC068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80CFC39-5093-D08E-C205-8DA496EFFAEA}"/>
              </a:ext>
            </a:extLst>
          </p:cNvPr>
          <p:cNvSpPr>
            <a:spLocks noGrp="1"/>
          </p:cNvSpPr>
          <p:nvPr>
            <p:ph type="title"/>
          </p:nvPr>
        </p:nvSpPr>
        <p:spPr>
          <a:xfrm>
            <a:off x="0" y="365125"/>
            <a:ext cx="12192000" cy="1325563"/>
          </a:xfrm>
        </p:spPr>
        <p:txBody>
          <a:bodyPr/>
          <a:lstStyle/>
          <a:p>
            <a:pPr algn="ctr"/>
            <a:r>
              <a:rPr lang="en-US" noProof="0" dirty="0"/>
              <a:t>Ex</a:t>
            </a:r>
            <a:r>
              <a:rPr lang="en-US" dirty="0" err="1"/>
              <a:t>periments</a:t>
            </a:r>
            <a:r>
              <a:rPr lang="en-US" dirty="0"/>
              <a:t> and Evaluations</a:t>
            </a:r>
            <a:endParaRPr lang="en-US" noProof="0" dirty="0"/>
          </a:p>
        </p:txBody>
      </p:sp>
      <p:sp>
        <p:nvSpPr>
          <p:cNvPr id="5" name="Inhaltsplatzhalter 4">
            <a:extLst>
              <a:ext uri="{FF2B5EF4-FFF2-40B4-BE49-F238E27FC236}">
                <a16:creationId xmlns:a16="http://schemas.microsoft.com/office/drawing/2014/main" id="{7BAD7D9A-7680-0F17-22B3-EE2F7DE4820E}"/>
              </a:ext>
            </a:extLst>
          </p:cNvPr>
          <p:cNvSpPr>
            <a:spLocks noGrp="1"/>
          </p:cNvSpPr>
          <p:nvPr>
            <p:ph idx="1"/>
          </p:nvPr>
        </p:nvSpPr>
        <p:spPr>
          <a:xfrm>
            <a:off x="838199" y="1813099"/>
            <a:ext cx="10567531" cy="4351338"/>
          </a:xfrm>
        </p:spPr>
        <p:txBody>
          <a:bodyPr>
            <a:normAutofit fontScale="92500" lnSpcReduction="10000"/>
          </a:bodyPr>
          <a:lstStyle/>
          <a:p>
            <a:pPr marL="0" indent="0">
              <a:buNone/>
            </a:pPr>
            <a:r>
              <a:rPr lang="en-US" dirty="0"/>
              <a:t>Results go here.</a:t>
            </a:r>
          </a:p>
          <a:p>
            <a:pPr marL="0" indent="0">
              <a:buNone/>
            </a:pPr>
            <a:r>
              <a:rPr lang="en-US" dirty="0"/>
              <a:t>Explain your experiments and evaluation setup. Again, keep the time budget in mind: Don’t over-explain, say when stuff is standard procedure, and only motivate non-standard choices. How to know something is standard? It is often done by the field (Standard measures like </a:t>
            </a:r>
            <a:r>
              <a:rPr lang="en-US" dirty="0" err="1"/>
              <a:t>IoU</a:t>
            </a:r>
            <a:r>
              <a:rPr lang="en-US" dirty="0"/>
              <a:t>, F1, L2, …; Data-splits (only mention if you are doing something nonstandard, otherwise skip); etc.)</a:t>
            </a:r>
          </a:p>
          <a:p>
            <a:pPr marL="0" indent="0">
              <a:buNone/>
            </a:pPr>
            <a:endParaRPr lang="en-US" dirty="0"/>
          </a:p>
          <a:p>
            <a:pPr marL="0" indent="0">
              <a:buNone/>
            </a:pPr>
            <a:r>
              <a:rPr lang="en-US" dirty="0"/>
              <a:t>E.g.: We measure </a:t>
            </a:r>
            <a:r>
              <a:rPr lang="en-US" dirty="0" err="1"/>
              <a:t>IoU</a:t>
            </a:r>
            <a:r>
              <a:rPr lang="en-US" dirty="0"/>
              <a:t> for the masks retained from frozen features on video object segmentation on the Davis dataset. (No need to explain </a:t>
            </a:r>
            <a:r>
              <a:rPr lang="en-US" dirty="0" err="1"/>
              <a:t>IoU</a:t>
            </a:r>
            <a:r>
              <a:rPr lang="en-US" dirty="0"/>
              <a:t>, frozen features, masks, video object segmentation, or the Davis dataset – you can mention that this is standard procedure.)</a:t>
            </a:r>
          </a:p>
        </p:txBody>
      </p:sp>
      <p:sp>
        <p:nvSpPr>
          <p:cNvPr id="7" name="Rectangle 3">
            <a:extLst>
              <a:ext uri="{FF2B5EF4-FFF2-40B4-BE49-F238E27FC236}">
                <a16:creationId xmlns:a16="http://schemas.microsoft.com/office/drawing/2014/main" id="{0E1AC8C4-F914-8E5C-FDA2-2D53E0867E5E}"/>
              </a:ext>
            </a:extLst>
          </p:cNvPr>
          <p:cNvSpPr/>
          <p:nvPr/>
        </p:nvSpPr>
        <p:spPr>
          <a:xfrm>
            <a:off x="-12527" y="6494292"/>
            <a:ext cx="5002654" cy="369971"/>
          </a:xfrm>
          <a:prstGeom prst="rect">
            <a:avLst/>
          </a:prstGeom>
          <a:solidFill>
            <a:srgbClr val="203A5D">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4">
            <a:extLst>
              <a:ext uri="{FF2B5EF4-FFF2-40B4-BE49-F238E27FC236}">
                <a16:creationId xmlns:a16="http://schemas.microsoft.com/office/drawing/2014/main" id="{55A79999-81B5-593C-2195-47EFEC41FA24}"/>
              </a:ext>
            </a:extLst>
          </p:cNvPr>
          <p:cNvSpPr/>
          <p:nvPr/>
        </p:nvSpPr>
        <p:spPr>
          <a:xfrm>
            <a:off x="7069870" y="6494292"/>
            <a:ext cx="5128392" cy="369971"/>
          </a:xfrm>
          <a:prstGeom prst="rect">
            <a:avLst/>
          </a:prstGeom>
          <a:solidFill>
            <a:srgbClr val="FF0A3B">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5">
            <a:extLst>
              <a:ext uri="{FF2B5EF4-FFF2-40B4-BE49-F238E27FC236}">
                <a16:creationId xmlns:a16="http://schemas.microsoft.com/office/drawing/2014/main" id="{3C32BA94-A604-FF53-7046-6C2DB68A1D1A}"/>
              </a:ext>
            </a:extLst>
          </p:cNvPr>
          <p:cNvSpPr/>
          <p:nvPr/>
        </p:nvSpPr>
        <p:spPr>
          <a:xfrm>
            <a:off x="4990127" y="6494292"/>
            <a:ext cx="2079743" cy="369971"/>
          </a:xfrm>
          <a:prstGeom prst="rect">
            <a:avLst/>
          </a:prstGeom>
          <a:gradFill flip="none" rotWithShape="1">
            <a:gsLst>
              <a:gs pos="50000">
                <a:srgbClr val="820924">
                  <a:alpha val="70000"/>
                </a:srgbClr>
              </a:gs>
              <a:gs pos="0">
                <a:srgbClr val="FF0A3B">
                  <a:alpha val="50000"/>
                </a:srgbClr>
              </a:gs>
              <a:gs pos="100000">
                <a:srgbClr val="203A5D">
                  <a:alpha val="80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7">
            <a:extLst>
              <a:ext uri="{FF2B5EF4-FFF2-40B4-BE49-F238E27FC236}">
                <a16:creationId xmlns:a16="http://schemas.microsoft.com/office/drawing/2014/main" id="{C6A03C3C-71BF-682C-0838-DF41AAF7807F}"/>
              </a:ext>
            </a:extLst>
          </p:cNvPr>
          <p:cNvSpPr txBox="1"/>
          <p:nvPr/>
        </p:nvSpPr>
        <p:spPr>
          <a:xfrm>
            <a:off x="11405731" y="6513183"/>
            <a:ext cx="559469" cy="338554"/>
          </a:xfrm>
          <a:prstGeom prst="rect">
            <a:avLst/>
          </a:prstGeom>
          <a:noFill/>
        </p:spPr>
        <p:txBody>
          <a:bodyPr wrap="square" rtlCol="0">
            <a:spAutoFit/>
          </a:bodyPr>
          <a:lstStyle/>
          <a:p>
            <a:pPr algn="r"/>
            <a:r>
              <a:rPr lang="en-US" sz="1600" noProof="0" dirty="0">
                <a:latin typeface="Arial" panose="020B0604020202020204" pitchFamily="34" charset="0"/>
                <a:cs typeface="Arial" panose="020B0604020202020204" pitchFamily="34" charset="0"/>
              </a:rPr>
              <a:t>4</a:t>
            </a:r>
          </a:p>
        </p:txBody>
      </p:sp>
      <p:sp>
        <p:nvSpPr>
          <p:cNvPr id="12" name="TextBox 8">
            <a:extLst>
              <a:ext uri="{FF2B5EF4-FFF2-40B4-BE49-F238E27FC236}">
                <a16:creationId xmlns:a16="http://schemas.microsoft.com/office/drawing/2014/main" id="{09F26B5D-8D33-2A80-9F6C-A93C5A1476DD}"/>
              </a:ext>
            </a:extLst>
          </p:cNvPr>
          <p:cNvSpPr txBox="1"/>
          <p:nvPr/>
        </p:nvSpPr>
        <p:spPr>
          <a:xfrm>
            <a:off x="226799" y="6513183"/>
            <a:ext cx="4513919" cy="338554"/>
          </a:xfrm>
          <a:prstGeom prst="rect">
            <a:avLst/>
          </a:prstGeom>
          <a:noFill/>
        </p:spPr>
        <p:txBody>
          <a:bodyPr wrap="square" rtlCol="0">
            <a:spAutoFit/>
          </a:bodyPr>
          <a:lstStyle/>
          <a:p>
            <a:r>
              <a:rPr lang="en-US" sz="1600" noProof="0" dirty="0">
                <a:solidFill>
                  <a:schemeClr val="bg1"/>
                </a:solidFill>
                <a:latin typeface="Arial" panose="020B0604020202020204" pitchFamily="34" charset="0"/>
                <a:cs typeface="Arial" panose="020B0604020202020204" pitchFamily="34" charset="0"/>
              </a:rPr>
              <a:t>University of Bern – Deep Learning</a:t>
            </a:r>
          </a:p>
        </p:txBody>
      </p:sp>
      <p:sp>
        <p:nvSpPr>
          <p:cNvPr id="3" name="TextBox 10">
            <a:extLst>
              <a:ext uri="{FF2B5EF4-FFF2-40B4-BE49-F238E27FC236}">
                <a16:creationId xmlns:a16="http://schemas.microsoft.com/office/drawing/2014/main" id="{54C54E1E-508C-FBAA-7A3F-9F5A828F61B8}"/>
              </a:ext>
            </a:extLst>
          </p:cNvPr>
          <p:cNvSpPr txBox="1"/>
          <p:nvPr/>
        </p:nvSpPr>
        <p:spPr>
          <a:xfrm>
            <a:off x="7153834" y="6519446"/>
            <a:ext cx="3845490" cy="338554"/>
          </a:xfrm>
          <a:prstGeom prst="rect">
            <a:avLst/>
          </a:prstGeom>
          <a:noFill/>
        </p:spPr>
        <p:txBody>
          <a:bodyPr wrap="square" rtlCol="0">
            <a:spAutoFit/>
          </a:bodyPr>
          <a:lstStyle/>
          <a:p>
            <a:r>
              <a:rPr lang="en-US" sz="1600" dirty="0"/>
              <a:t>Multimodal Skin Lesion Classification</a:t>
            </a:r>
            <a:endParaRPr lang="en-US" sz="1600" noProof="0" dirty="0">
              <a:latin typeface="Arial" panose="020B0604020202020204" pitchFamily="34" charset="0"/>
              <a:cs typeface="Arial" panose="020B0604020202020204" pitchFamily="34" charset="0"/>
            </a:endParaRPr>
          </a:p>
        </p:txBody>
      </p:sp>
      <p:pic>
        <p:nvPicPr>
          <p:cNvPr id="4" name="Picture 18" descr="A black background with red text&#10;&#10;Description automatically generated">
            <a:extLst>
              <a:ext uri="{FF2B5EF4-FFF2-40B4-BE49-F238E27FC236}">
                <a16:creationId xmlns:a16="http://schemas.microsoft.com/office/drawing/2014/main" id="{5940F228-3F30-5680-90F4-4FA4EEB387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7932" y="242714"/>
            <a:ext cx="1331735" cy="1020997"/>
          </a:xfrm>
          <a:prstGeom prst="rect">
            <a:avLst/>
          </a:prstGeom>
        </p:spPr>
      </p:pic>
    </p:spTree>
    <p:extLst>
      <p:ext uri="{BB962C8B-B14F-4D97-AF65-F5344CB8AC3E}">
        <p14:creationId xmlns:p14="http://schemas.microsoft.com/office/powerpoint/2010/main" val="2544444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6E0B4-A3C9-2FA0-FAA4-BFA843CFDD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FE1F572-6C31-AE75-FBF0-3481AB4D0115}"/>
              </a:ext>
            </a:extLst>
          </p:cNvPr>
          <p:cNvSpPr>
            <a:spLocks noGrp="1"/>
          </p:cNvSpPr>
          <p:nvPr>
            <p:ph type="title"/>
          </p:nvPr>
        </p:nvSpPr>
        <p:spPr>
          <a:xfrm>
            <a:off x="0" y="365125"/>
            <a:ext cx="12192000" cy="1325563"/>
          </a:xfrm>
        </p:spPr>
        <p:txBody>
          <a:bodyPr/>
          <a:lstStyle/>
          <a:p>
            <a:pPr algn="ctr"/>
            <a:r>
              <a:rPr lang="en-US" noProof="0" dirty="0"/>
              <a:t>Conclusion and Future Work</a:t>
            </a:r>
          </a:p>
        </p:txBody>
      </p:sp>
      <p:sp>
        <p:nvSpPr>
          <p:cNvPr id="5" name="Inhaltsplatzhalter 4">
            <a:extLst>
              <a:ext uri="{FF2B5EF4-FFF2-40B4-BE49-F238E27FC236}">
                <a16:creationId xmlns:a16="http://schemas.microsoft.com/office/drawing/2014/main" id="{A0B6D4C9-3475-832E-38BA-7B1411829851}"/>
              </a:ext>
            </a:extLst>
          </p:cNvPr>
          <p:cNvSpPr>
            <a:spLocks noGrp="1"/>
          </p:cNvSpPr>
          <p:nvPr>
            <p:ph idx="1"/>
          </p:nvPr>
        </p:nvSpPr>
        <p:spPr>
          <a:xfrm>
            <a:off x="838200" y="1813099"/>
            <a:ext cx="5257800" cy="4351338"/>
          </a:xfrm>
        </p:spPr>
        <p:txBody>
          <a:bodyPr/>
          <a:lstStyle/>
          <a:p>
            <a:pPr marL="0" indent="0">
              <a:buNone/>
            </a:pPr>
            <a:r>
              <a:rPr lang="en-US" noProof="0" dirty="0"/>
              <a:t>Conclusion</a:t>
            </a:r>
          </a:p>
          <a:p>
            <a:pPr marL="0" indent="0">
              <a:buNone/>
            </a:pPr>
            <a:r>
              <a:rPr lang="en-US" noProof="0" dirty="0"/>
              <a:t>What did you achieve?</a:t>
            </a:r>
          </a:p>
          <a:p>
            <a:pPr marL="0" indent="0">
              <a:buNone/>
            </a:pPr>
            <a:r>
              <a:rPr lang="en-US" dirty="0"/>
              <a:t>Did you gain new insights, or managed improvements?</a:t>
            </a:r>
            <a:endParaRPr lang="en-US" noProof="0" dirty="0"/>
          </a:p>
        </p:txBody>
      </p:sp>
      <p:sp>
        <p:nvSpPr>
          <p:cNvPr id="7" name="Rectangle 3">
            <a:extLst>
              <a:ext uri="{FF2B5EF4-FFF2-40B4-BE49-F238E27FC236}">
                <a16:creationId xmlns:a16="http://schemas.microsoft.com/office/drawing/2014/main" id="{6B2AAA95-0B67-D250-399E-6C8E9A3796A9}"/>
              </a:ext>
            </a:extLst>
          </p:cNvPr>
          <p:cNvSpPr/>
          <p:nvPr/>
        </p:nvSpPr>
        <p:spPr>
          <a:xfrm>
            <a:off x="-12527" y="6494292"/>
            <a:ext cx="5002654" cy="369971"/>
          </a:xfrm>
          <a:prstGeom prst="rect">
            <a:avLst/>
          </a:prstGeom>
          <a:solidFill>
            <a:srgbClr val="203A5D">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4">
            <a:extLst>
              <a:ext uri="{FF2B5EF4-FFF2-40B4-BE49-F238E27FC236}">
                <a16:creationId xmlns:a16="http://schemas.microsoft.com/office/drawing/2014/main" id="{5AE45D75-09BE-9669-8F43-A334A9BD441B}"/>
              </a:ext>
            </a:extLst>
          </p:cNvPr>
          <p:cNvSpPr/>
          <p:nvPr/>
        </p:nvSpPr>
        <p:spPr>
          <a:xfrm>
            <a:off x="7069870" y="6494292"/>
            <a:ext cx="5128392" cy="369971"/>
          </a:xfrm>
          <a:prstGeom prst="rect">
            <a:avLst/>
          </a:prstGeom>
          <a:solidFill>
            <a:srgbClr val="FF0A3B">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5">
            <a:extLst>
              <a:ext uri="{FF2B5EF4-FFF2-40B4-BE49-F238E27FC236}">
                <a16:creationId xmlns:a16="http://schemas.microsoft.com/office/drawing/2014/main" id="{48CE9C81-CC7B-0D05-2588-E5C78BC2B236}"/>
              </a:ext>
            </a:extLst>
          </p:cNvPr>
          <p:cNvSpPr/>
          <p:nvPr/>
        </p:nvSpPr>
        <p:spPr>
          <a:xfrm>
            <a:off x="4990127" y="6494292"/>
            <a:ext cx="2079743" cy="369971"/>
          </a:xfrm>
          <a:prstGeom prst="rect">
            <a:avLst/>
          </a:prstGeom>
          <a:gradFill flip="none" rotWithShape="1">
            <a:gsLst>
              <a:gs pos="50000">
                <a:srgbClr val="820924">
                  <a:alpha val="70000"/>
                </a:srgbClr>
              </a:gs>
              <a:gs pos="0">
                <a:srgbClr val="FF0A3B">
                  <a:alpha val="50000"/>
                </a:srgbClr>
              </a:gs>
              <a:gs pos="100000">
                <a:srgbClr val="203A5D">
                  <a:alpha val="80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7">
            <a:extLst>
              <a:ext uri="{FF2B5EF4-FFF2-40B4-BE49-F238E27FC236}">
                <a16:creationId xmlns:a16="http://schemas.microsoft.com/office/drawing/2014/main" id="{BD8A6460-5180-2C35-B30B-605F30471CDC}"/>
              </a:ext>
            </a:extLst>
          </p:cNvPr>
          <p:cNvSpPr txBox="1"/>
          <p:nvPr/>
        </p:nvSpPr>
        <p:spPr>
          <a:xfrm>
            <a:off x="11405731" y="6513183"/>
            <a:ext cx="559469" cy="338554"/>
          </a:xfrm>
          <a:prstGeom prst="rect">
            <a:avLst/>
          </a:prstGeom>
          <a:noFill/>
        </p:spPr>
        <p:txBody>
          <a:bodyPr wrap="square" rtlCol="0">
            <a:spAutoFit/>
          </a:bodyPr>
          <a:lstStyle/>
          <a:p>
            <a:pPr algn="r"/>
            <a:r>
              <a:rPr lang="en-US" sz="1600" dirty="0">
                <a:latin typeface="Arial" panose="020B0604020202020204" pitchFamily="34" charset="0"/>
                <a:cs typeface="Arial" panose="020B0604020202020204" pitchFamily="34" charset="0"/>
              </a:rPr>
              <a:t>5</a:t>
            </a:r>
            <a:endParaRPr lang="en-US" sz="1600" noProof="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FDAB7939-AF67-C731-2C63-09086E9EA15F}"/>
              </a:ext>
            </a:extLst>
          </p:cNvPr>
          <p:cNvSpPr txBox="1"/>
          <p:nvPr/>
        </p:nvSpPr>
        <p:spPr>
          <a:xfrm>
            <a:off x="226799" y="6513183"/>
            <a:ext cx="4513919" cy="338554"/>
          </a:xfrm>
          <a:prstGeom prst="rect">
            <a:avLst/>
          </a:prstGeom>
          <a:noFill/>
        </p:spPr>
        <p:txBody>
          <a:bodyPr wrap="square" rtlCol="0">
            <a:spAutoFit/>
          </a:bodyPr>
          <a:lstStyle/>
          <a:p>
            <a:r>
              <a:rPr lang="en-US" sz="1600" noProof="0" dirty="0">
                <a:solidFill>
                  <a:schemeClr val="bg1"/>
                </a:solidFill>
                <a:latin typeface="Arial" panose="020B0604020202020204" pitchFamily="34" charset="0"/>
                <a:cs typeface="Arial" panose="020B0604020202020204" pitchFamily="34" charset="0"/>
              </a:rPr>
              <a:t>University of Bern – Deep Learning</a:t>
            </a:r>
          </a:p>
        </p:txBody>
      </p:sp>
      <p:sp>
        <p:nvSpPr>
          <p:cNvPr id="3" name="Inhaltsplatzhalter 4">
            <a:extLst>
              <a:ext uri="{FF2B5EF4-FFF2-40B4-BE49-F238E27FC236}">
                <a16:creationId xmlns:a16="http://schemas.microsoft.com/office/drawing/2014/main" id="{8F852C55-E7B8-4FC0-1256-E5E205A18D42}"/>
              </a:ext>
            </a:extLst>
          </p:cNvPr>
          <p:cNvSpPr txBox="1">
            <a:spLocks/>
          </p:cNvSpPr>
          <p:nvPr/>
        </p:nvSpPr>
        <p:spPr>
          <a:xfrm>
            <a:off x="6096000" y="1813099"/>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noProof="0" dirty="0"/>
              <a:t>Future Work</a:t>
            </a:r>
          </a:p>
          <a:p>
            <a:pPr marL="0" indent="0">
              <a:buFont typeface="Arial" panose="020B0604020202020204" pitchFamily="34" charset="0"/>
              <a:buNone/>
            </a:pPr>
            <a:r>
              <a:rPr lang="en-US" dirty="0"/>
              <a:t>With your new insights/ improvements/ new frontiers, what do you think that the field could/ should focus on next in this direction?</a:t>
            </a:r>
          </a:p>
          <a:p>
            <a:pPr marL="0" indent="0">
              <a:buFont typeface="Arial" panose="020B0604020202020204" pitchFamily="34" charset="0"/>
              <a:buNone/>
            </a:pPr>
            <a:r>
              <a:rPr lang="en-US" noProof="0" dirty="0"/>
              <a:t>I.e. give an outlook.</a:t>
            </a:r>
          </a:p>
        </p:txBody>
      </p:sp>
      <p:sp>
        <p:nvSpPr>
          <p:cNvPr id="4" name="TextBox 10">
            <a:extLst>
              <a:ext uri="{FF2B5EF4-FFF2-40B4-BE49-F238E27FC236}">
                <a16:creationId xmlns:a16="http://schemas.microsoft.com/office/drawing/2014/main" id="{99AC7D37-A381-CA1E-1C80-B40D2DEFD4BB}"/>
              </a:ext>
            </a:extLst>
          </p:cNvPr>
          <p:cNvSpPr txBox="1"/>
          <p:nvPr/>
        </p:nvSpPr>
        <p:spPr>
          <a:xfrm>
            <a:off x="7153834" y="6519446"/>
            <a:ext cx="3845490" cy="338554"/>
          </a:xfrm>
          <a:prstGeom prst="rect">
            <a:avLst/>
          </a:prstGeom>
          <a:noFill/>
        </p:spPr>
        <p:txBody>
          <a:bodyPr wrap="square" rtlCol="0">
            <a:spAutoFit/>
          </a:bodyPr>
          <a:lstStyle/>
          <a:p>
            <a:r>
              <a:rPr lang="en-US" sz="1600" dirty="0"/>
              <a:t>Multimodal Skin Lesion Classification</a:t>
            </a:r>
            <a:endParaRPr lang="en-US" sz="1600" noProof="0" dirty="0">
              <a:latin typeface="Arial" panose="020B0604020202020204" pitchFamily="34" charset="0"/>
              <a:cs typeface="Arial" panose="020B0604020202020204" pitchFamily="34" charset="0"/>
            </a:endParaRPr>
          </a:p>
        </p:txBody>
      </p:sp>
      <p:pic>
        <p:nvPicPr>
          <p:cNvPr id="6" name="Picture 18" descr="A black background with red text&#10;&#10;Description automatically generated">
            <a:extLst>
              <a:ext uri="{FF2B5EF4-FFF2-40B4-BE49-F238E27FC236}">
                <a16:creationId xmlns:a16="http://schemas.microsoft.com/office/drawing/2014/main" id="{05457175-FA9E-70A8-77F4-2E4D917BA4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7932" y="242714"/>
            <a:ext cx="1331735" cy="1020997"/>
          </a:xfrm>
          <a:prstGeom prst="rect">
            <a:avLst/>
          </a:prstGeom>
        </p:spPr>
      </p:pic>
    </p:spTree>
    <p:extLst>
      <p:ext uri="{BB962C8B-B14F-4D97-AF65-F5344CB8AC3E}">
        <p14:creationId xmlns:p14="http://schemas.microsoft.com/office/powerpoint/2010/main" val="494254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3F739C-C31D-8B99-C929-FCE891497EC5}"/>
              </a:ext>
            </a:extLst>
          </p:cNvPr>
          <p:cNvSpPr>
            <a:spLocks noGrp="1"/>
          </p:cNvSpPr>
          <p:nvPr>
            <p:ph type="title"/>
          </p:nvPr>
        </p:nvSpPr>
        <p:spPr/>
        <p:txBody>
          <a:bodyPr/>
          <a:lstStyle/>
          <a:p>
            <a:r>
              <a:rPr lang="de-DE" dirty="0"/>
              <a:t>Logos </a:t>
            </a:r>
            <a:r>
              <a:rPr lang="de-DE" dirty="0" err="1"/>
              <a:t>you</a:t>
            </a:r>
            <a:r>
              <a:rPr lang="de-DE" dirty="0"/>
              <a:t> </a:t>
            </a:r>
            <a:r>
              <a:rPr lang="de-DE" dirty="0" err="1"/>
              <a:t>might</a:t>
            </a:r>
            <a:r>
              <a:rPr lang="de-DE" dirty="0"/>
              <a:t> </a:t>
            </a:r>
            <a:r>
              <a:rPr lang="de-DE" dirty="0" err="1"/>
              <a:t>want</a:t>
            </a:r>
            <a:r>
              <a:rPr lang="de-DE" dirty="0"/>
              <a:t> </a:t>
            </a:r>
            <a:r>
              <a:rPr lang="de-DE" dirty="0" err="1"/>
              <a:t>to</a:t>
            </a:r>
            <a:r>
              <a:rPr lang="de-DE" dirty="0"/>
              <a:t> </a:t>
            </a:r>
            <a:r>
              <a:rPr lang="de-DE" dirty="0" err="1"/>
              <a:t>use</a:t>
            </a:r>
            <a:r>
              <a:rPr lang="de-DE" dirty="0"/>
              <a:t>:</a:t>
            </a:r>
          </a:p>
        </p:txBody>
      </p:sp>
      <p:pic>
        <p:nvPicPr>
          <p:cNvPr id="6" name="Picture 18" descr="A black background with red text&#10;&#10;Description automatically generated">
            <a:extLst>
              <a:ext uri="{FF2B5EF4-FFF2-40B4-BE49-F238E27FC236}">
                <a16:creationId xmlns:a16="http://schemas.microsoft.com/office/drawing/2014/main" id="{BE9782BF-633D-82E3-8DB8-200BE0F99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4076" y="3559901"/>
            <a:ext cx="1331735" cy="1020997"/>
          </a:xfrm>
          <a:prstGeom prst="rect">
            <a:avLst/>
          </a:prstGeom>
        </p:spPr>
      </p:pic>
      <p:pic>
        <p:nvPicPr>
          <p:cNvPr id="7" name="Picture 17" descr="A red and black logo&#10;&#10;Description automatically generated">
            <a:extLst>
              <a:ext uri="{FF2B5EF4-FFF2-40B4-BE49-F238E27FC236}">
                <a16:creationId xmlns:a16="http://schemas.microsoft.com/office/drawing/2014/main" id="{9DFE63DC-3AA8-0FF6-CB99-58062E9E43DF}"/>
              </a:ext>
            </a:extLst>
          </p:cNvPr>
          <p:cNvPicPr>
            <a:picLocks noChangeAspect="1"/>
          </p:cNvPicPr>
          <p:nvPr/>
        </p:nvPicPr>
        <p:blipFill rotWithShape="1">
          <a:blip r:embed="rId3">
            <a:extLst>
              <a:ext uri="{28A0092B-C50C-407E-A947-70E740481C1C}">
                <a14:useLocalDpi xmlns:a14="http://schemas.microsoft.com/office/drawing/2010/main" val="0"/>
              </a:ext>
            </a:extLst>
          </a:blip>
          <a:srcRect r="82028" b="55650"/>
          <a:stretch/>
        </p:blipFill>
        <p:spPr>
          <a:xfrm>
            <a:off x="7337551" y="2033696"/>
            <a:ext cx="429554" cy="445683"/>
          </a:xfrm>
          <a:prstGeom prst="rect">
            <a:avLst/>
          </a:prstGeom>
        </p:spPr>
      </p:pic>
      <p:sp>
        <p:nvSpPr>
          <p:cNvPr id="8" name="Inhaltsplatzhalter 4">
            <a:extLst>
              <a:ext uri="{FF2B5EF4-FFF2-40B4-BE49-F238E27FC236}">
                <a16:creationId xmlns:a16="http://schemas.microsoft.com/office/drawing/2014/main" id="{F677F397-633A-BB95-9F6C-0FD2C1AFA808}"/>
              </a:ext>
            </a:extLst>
          </p:cNvPr>
          <p:cNvSpPr>
            <a:spLocks noGrp="1"/>
          </p:cNvSpPr>
          <p:nvPr>
            <p:ph idx="1"/>
          </p:nvPr>
        </p:nvSpPr>
        <p:spPr>
          <a:xfrm>
            <a:off x="838200" y="1813099"/>
            <a:ext cx="5257800" cy="4351338"/>
          </a:xfrm>
        </p:spPr>
        <p:txBody>
          <a:bodyPr>
            <a:normAutofit fontScale="92500" lnSpcReduction="10000"/>
          </a:bodyPr>
          <a:lstStyle/>
          <a:p>
            <a:pPr marL="0" indent="0">
              <a:buNone/>
            </a:pPr>
            <a:r>
              <a:rPr lang="en-US" noProof="0" dirty="0"/>
              <a:t>If you are from a different university, then you can have a look at the style guide of your university. They should have your logo available. As this is not official material going out to the world, it is not required to put the Logo - but it might look cool to see who is collaborating.</a:t>
            </a:r>
          </a:p>
          <a:p>
            <a:pPr marL="0" indent="0">
              <a:buNone/>
            </a:pPr>
            <a:r>
              <a:rPr lang="en-US" dirty="0"/>
              <a:t>Note, that you can put multiple logos side by side. The Universities have guides on how to do this for </a:t>
            </a:r>
            <a:r>
              <a:rPr lang="en-US"/>
              <a:t>official material.</a:t>
            </a:r>
            <a:endParaRPr lang="en-US" noProof="0" dirty="0"/>
          </a:p>
        </p:txBody>
      </p:sp>
    </p:spTree>
    <p:extLst>
      <p:ext uri="{BB962C8B-B14F-4D97-AF65-F5344CB8AC3E}">
        <p14:creationId xmlns:p14="http://schemas.microsoft.com/office/powerpoint/2010/main" val="279506585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492</Words>
  <Application>Microsoft Office PowerPoint</Application>
  <PresentationFormat>Breitbild</PresentationFormat>
  <Paragraphs>51</Paragraphs>
  <Slides>7</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7</vt:i4>
      </vt:variant>
    </vt:vector>
  </HeadingPairs>
  <TitlesOfParts>
    <vt:vector size="11" baseType="lpstr">
      <vt:lpstr>Aptos</vt:lpstr>
      <vt:lpstr>Aptos Display</vt:lpstr>
      <vt:lpstr>Arial</vt:lpstr>
      <vt:lpstr>Office</vt:lpstr>
      <vt:lpstr>Multimodal Skin Lesion Classification: Investigating the Influence of Metadata on Model Decision-Making</vt:lpstr>
      <vt:lpstr>Goal and Motivation</vt:lpstr>
      <vt:lpstr>Challenges and Prior Work</vt:lpstr>
      <vt:lpstr>Method and Design Choices</vt:lpstr>
      <vt:lpstr>Experiments and Evaluations</vt:lpstr>
      <vt:lpstr>Conclusion and Future Work</vt:lpstr>
      <vt:lpstr>Logos you might want to 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 Scharr</dc:creator>
  <cp:lastModifiedBy>Nina Fröhlich</cp:lastModifiedBy>
  <cp:revision>2</cp:revision>
  <dcterms:created xsi:type="dcterms:W3CDTF">2026-04-28T14:03:42Z</dcterms:created>
  <dcterms:modified xsi:type="dcterms:W3CDTF">2026-04-29T12:38:12Z</dcterms:modified>
</cp:coreProperties>
</file>